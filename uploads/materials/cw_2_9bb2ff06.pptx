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6858000" cy="9144000"/>
  <p:embeddedFontLst>
    <p:embeddedFont>
      <p:font typeface="Albert Sans" panose="020B0604020202020204" charset="0"/>
      <p:regular r:id="rId42"/>
      <p:bold r:id="rId43"/>
      <p:italic r:id="rId44"/>
      <p:boldItalic r:id="rId45"/>
    </p:embeddedFont>
    <p:embeddedFont>
      <p:font typeface="DM Sans" pitchFamily="2" charset="0"/>
      <p:regular r:id="rId46"/>
      <p:bold r:id="rId47"/>
      <p:italic r:id="rId48"/>
      <p:boldItalic r:id="rId49"/>
    </p:embeddedFont>
    <p:embeddedFont>
      <p:font typeface="Elsie" panose="020B0604020202020204" charset="0"/>
      <p:regular r:id="rId50"/>
    </p:embeddedFont>
    <p:embeddedFont>
      <p:font typeface="Mulish" panose="020B0604020202020204" charset="0"/>
      <p:regular r:id="rId51"/>
      <p:bold r:id="rId52"/>
      <p:italic r:id="rId53"/>
      <p:boldItalic r:id="rId54"/>
    </p:embeddedFont>
    <p:embeddedFont>
      <p:font typeface="Proxima Nova" panose="020B0604020202020204" charset="0"/>
      <p:regular r:id="rId55"/>
      <p:bold r:id="rId56"/>
      <p:italic r:id="rId57"/>
      <p:boldItalic r:id="rId58"/>
    </p:embeddedFont>
    <p:embeddedFont>
      <p:font typeface="Quicksand" panose="020B0604020202020204" charset="0"/>
      <p:regular r:id="rId59"/>
      <p:bold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DB37E8-0972-4434-97EE-2D51B9529329}">
  <a:tblStyle styleId="{CCDB37E8-0972-4434-97EE-2D51B95293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86F1678-9BED-46F7-BA40-8F9FAA9079F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791cf3e0c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791cf3e0c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79297f6f4e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79297f6f4e_2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0611aa83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e0611aa83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0611aa83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0611aa83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0611aa83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0611aa83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0611aa83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e0611aa83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0611aa83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e0611aa83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0611aa83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e0611aa83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0611aa83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0611aa838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0611aa83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0611aa83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0611aa838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e0611aa838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0611aa838_0_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e0611aa838_0_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0611aa838_0_8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e0611aa838_0_8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0611aa838_0_8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e0611aa838_0_8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0611aa838_0_8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e0611aa838_0_8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0611aa838_0_8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0611aa838_0_8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0611aa838_0_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e0611aa838_0_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0611aa838_0_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0611aa838_0_9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0611aa838_0_9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e0611aa838_0_9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0611aa838_0_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e0611aa838_0_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0611aa838_0_9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e0611aa838_0_9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e0611aa838_0_9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e0611aa838_0_9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0611aa838_0_9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e0611aa838_0_9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e0611aa838_0_9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e0611aa838_0_9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0611aa838_0_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e0611aa838_0_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0611aa838_0_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e0611aa838_0_7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e0611aa838_0_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e0611aa838_0_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0611aa838_0_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e0611aa838_0_7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e0611aa838_0_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e0611aa838_0_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e0611aa838_0_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e0611aa838_0_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e0611aa838_0_6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e0611aa838_0_6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0611aa838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e0611aa838_0_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0611aa838_0_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e0611aa838_0_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e0611aa838_0_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e0611aa838_0_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e0611aa838_0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e0611aa838_0_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e0611aa838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e0611aa838_0_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0611aa838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e0611aa838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e0611aa83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e0611aa83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69800" y="1034675"/>
            <a:ext cx="5804400" cy="181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69800" y="3423550"/>
            <a:ext cx="58044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041106" y="2705343"/>
            <a:ext cx="3387300" cy="6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2084956" y="1608057"/>
            <a:ext cx="1299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5011994" y="602401"/>
            <a:ext cx="3166500" cy="3938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21" name="Google Shape;21;p4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22" name="Google Shape;22;p4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" name="Google Shape;23;p4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489364" y="1593175"/>
            <a:ext cx="2731500" cy="8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4923136" y="1593175"/>
            <a:ext cx="2731500" cy="8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1489364" y="2464625"/>
            <a:ext cx="2731500" cy="17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4923136" y="2464625"/>
            <a:ext cx="2731500" cy="17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32" name="Google Shape;32;p5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" name="Google Shape;33;p5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4394700" y="445025"/>
            <a:ext cx="3021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7" name="Google Shape;37;p6"/>
          <p:cNvGrpSpPr/>
          <p:nvPr/>
        </p:nvGrpSpPr>
        <p:grpSpPr>
          <a:xfrm>
            <a:off x="3365325" y="4582409"/>
            <a:ext cx="2413350" cy="197700"/>
            <a:chOff x="3365325" y="4582409"/>
            <a:chExt cx="2413350" cy="197700"/>
          </a:xfrm>
        </p:grpSpPr>
        <p:sp>
          <p:nvSpPr>
            <p:cNvPr id="38" name="Google Shape;38;p6"/>
            <p:cNvSpPr/>
            <p:nvPr/>
          </p:nvSpPr>
          <p:spPr>
            <a:xfrm>
              <a:off x="4473159" y="45824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" name="Google Shape;39;p6"/>
            <p:cNvCxnSpPr/>
            <p:nvPr/>
          </p:nvCxnSpPr>
          <p:spPr>
            <a:xfrm>
              <a:off x="3365325" y="4695525"/>
              <a:ext cx="969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40;p6"/>
            <p:cNvCxnSpPr/>
            <p:nvPr/>
          </p:nvCxnSpPr>
          <p:spPr>
            <a:xfrm>
              <a:off x="4809675" y="4695525"/>
              <a:ext cx="969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4138300" y="705150"/>
            <a:ext cx="4290600" cy="12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4138300" y="1948350"/>
            <a:ext cx="42906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>
            <a:spLocks noGrp="1"/>
          </p:cNvSpPr>
          <p:nvPr>
            <p:ph type="pic" idx="2"/>
          </p:nvPr>
        </p:nvSpPr>
        <p:spPr>
          <a:xfrm>
            <a:off x="715088" y="602401"/>
            <a:ext cx="3166500" cy="3938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46" name="Google Shape;46;p7"/>
          <p:cNvGrpSpPr/>
          <p:nvPr/>
        </p:nvGrpSpPr>
        <p:grpSpPr>
          <a:xfrm>
            <a:off x="5900450" y="4608503"/>
            <a:ext cx="2873884" cy="197700"/>
            <a:chOff x="1653525" y="2970747"/>
            <a:chExt cx="2873884" cy="197700"/>
          </a:xfrm>
        </p:grpSpPr>
        <p:sp>
          <p:nvSpPr>
            <p:cNvPr id="47" name="Google Shape;47;p7"/>
            <p:cNvSpPr/>
            <p:nvPr/>
          </p:nvSpPr>
          <p:spPr>
            <a:xfrm>
              <a:off x="4329709" y="2970747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8" name="Google Shape;48;p7"/>
            <p:cNvCxnSpPr/>
            <p:nvPr/>
          </p:nvCxnSpPr>
          <p:spPr>
            <a:xfrm>
              <a:off x="1653525" y="3069600"/>
              <a:ext cx="252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52" name="Google Shape;52;p8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53" name="Google Shape;53;p8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Google Shape;54;p8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9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60" name="Google Shape;60;p9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1" name="Google Shape;61;p9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9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3" name="Google Shape;63;p9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64" name="Google Shape;64;p9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5" name="Google Shape;65;p9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-31650" y="-12150"/>
            <a:ext cx="9207300" cy="5167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720000" y="4035800"/>
            <a:ext cx="63243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771200" y="1613863"/>
            <a:ext cx="5601600" cy="93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1771200" y="3162438"/>
            <a:ext cx="5601600" cy="3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hasCustomPrompt="1"/>
          </p:nvPr>
        </p:nvSpPr>
        <p:spPr>
          <a:xfrm>
            <a:off x="1895480" y="13966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2" hasCustomPrompt="1"/>
          </p:nvPr>
        </p:nvSpPr>
        <p:spPr>
          <a:xfrm>
            <a:off x="4015966" y="13966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3" hasCustomPrompt="1"/>
          </p:nvPr>
        </p:nvSpPr>
        <p:spPr>
          <a:xfrm>
            <a:off x="6134312" y="13966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4" hasCustomPrompt="1"/>
          </p:nvPr>
        </p:nvSpPr>
        <p:spPr>
          <a:xfrm>
            <a:off x="1895480" y="28050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5" hasCustomPrompt="1"/>
          </p:nvPr>
        </p:nvSpPr>
        <p:spPr>
          <a:xfrm>
            <a:off x="4015966" y="28050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6" hasCustomPrompt="1"/>
          </p:nvPr>
        </p:nvSpPr>
        <p:spPr>
          <a:xfrm>
            <a:off x="6134312" y="28050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7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"/>
          </p:nvPr>
        </p:nvSpPr>
        <p:spPr>
          <a:xfrm>
            <a:off x="1431980" y="1990025"/>
            <a:ext cx="204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8"/>
          </p:nvPr>
        </p:nvSpPr>
        <p:spPr>
          <a:xfrm>
            <a:off x="3552466" y="1990025"/>
            <a:ext cx="204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9"/>
          </p:nvPr>
        </p:nvSpPr>
        <p:spPr>
          <a:xfrm>
            <a:off x="5670812" y="1990025"/>
            <a:ext cx="204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3"/>
          </p:nvPr>
        </p:nvSpPr>
        <p:spPr>
          <a:xfrm>
            <a:off x="1431993" y="3398425"/>
            <a:ext cx="2041200" cy="80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4"/>
          </p:nvPr>
        </p:nvSpPr>
        <p:spPr>
          <a:xfrm>
            <a:off x="3552477" y="3398425"/>
            <a:ext cx="2041200" cy="80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5"/>
          </p:nvPr>
        </p:nvSpPr>
        <p:spPr>
          <a:xfrm>
            <a:off x="5670820" y="3398425"/>
            <a:ext cx="2041200" cy="80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91" name="Google Shape;91;p13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3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4" name="Google Shape;94;p13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95" name="Google Shape;95;p13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6" name="Google Shape;96;p13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" name="Google Shape;97;p13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75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102" name="Google Shape;102;p14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3" name="Google Shape;103;p14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8" name="Google Shape;108;p15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109" name="Google Shape;109;p15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0" name="Google Shape;110;p15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14" name="Google Shape;114;p16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115" name="Google Shape;115;p16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6" name="Google Shape;116;p16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Google Shape;117;p16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subTitle" idx="1"/>
          </p:nvPr>
        </p:nvSpPr>
        <p:spPr>
          <a:xfrm>
            <a:off x="720000" y="1212525"/>
            <a:ext cx="7704000" cy="29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2" name="Google Shape;122;p17"/>
          <p:cNvGrpSpPr/>
          <p:nvPr/>
        </p:nvGrpSpPr>
        <p:grpSpPr>
          <a:xfrm>
            <a:off x="3365325" y="4582409"/>
            <a:ext cx="2413350" cy="197700"/>
            <a:chOff x="3365325" y="4582409"/>
            <a:chExt cx="2413350" cy="197700"/>
          </a:xfrm>
        </p:grpSpPr>
        <p:sp>
          <p:nvSpPr>
            <p:cNvPr id="123" name="Google Shape;123;p17"/>
            <p:cNvSpPr/>
            <p:nvPr/>
          </p:nvSpPr>
          <p:spPr>
            <a:xfrm>
              <a:off x="4473159" y="45824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4" name="Google Shape;124;p17"/>
            <p:cNvCxnSpPr/>
            <p:nvPr/>
          </p:nvCxnSpPr>
          <p:spPr>
            <a:xfrm>
              <a:off x="3365325" y="4695525"/>
              <a:ext cx="969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" name="Google Shape;125;p17"/>
            <p:cNvCxnSpPr/>
            <p:nvPr/>
          </p:nvCxnSpPr>
          <p:spPr>
            <a:xfrm>
              <a:off x="4809675" y="4695525"/>
              <a:ext cx="969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3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subTitle" idx="1"/>
          </p:nvPr>
        </p:nvSpPr>
        <p:spPr>
          <a:xfrm>
            <a:off x="720000" y="1212525"/>
            <a:ext cx="7704000" cy="9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30" name="Google Shape;130;p18"/>
          <p:cNvGrpSpPr/>
          <p:nvPr/>
        </p:nvGrpSpPr>
        <p:grpSpPr>
          <a:xfrm>
            <a:off x="3365325" y="4582409"/>
            <a:ext cx="2413350" cy="197700"/>
            <a:chOff x="3365325" y="4582409"/>
            <a:chExt cx="2413350" cy="197700"/>
          </a:xfrm>
        </p:grpSpPr>
        <p:sp>
          <p:nvSpPr>
            <p:cNvPr id="131" name="Google Shape;131;p18"/>
            <p:cNvSpPr/>
            <p:nvPr/>
          </p:nvSpPr>
          <p:spPr>
            <a:xfrm>
              <a:off x="4473159" y="45824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2" name="Google Shape;132;p18"/>
            <p:cNvCxnSpPr/>
            <p:nvPr/>
          </p:nvCxnSpPr>
          <p:spPr>
            <a:xfrm>
              <a:off x="3365325" y="4695525"/>
              <a:ext cx="969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" name="Google Shape;133;p18"/>
            <p:cNvCxnSpPr/>
            <p:nvPr/>
          </p:nvCxnSpPr>
          <p:spPr>
            <a:xfrm>
              <a:off x="4809675" y="4695525"/>
              <a:ext cx="969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ubTitle" idx="1"/>
          </p:nvPr>
        </p:nvSpPr>
        <p:spPr>
          <a:xfrm>
            <a:off x="2905950" y="3891200"/>
            <a:ext cx="3402600" cy="7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2905950" y="3173900"/>
            <a:ext cx="3402600" cy="7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"/>
          <p:cNvSpPr>
            <a:spLocks noGrp="1"/>
          </p:cNvSpPr>
          <p:nvPr>
            <p:ph type="pic" idx="2"/>
          </p:nvPr>
        </p:nvSpPr>
        <p:spPr>
          <a:xfrm>
            <a:off x="350400" y="333637"/>
            <a:ext cx="2438400" cy="448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9"/>
          <p:cNvSpPr>
            <a:spLocks noGrp="1"/>
          </p:cNvSpPr>
          <p:nvPr>
            <p:ph type="pic" idx="3"/>
          </p:nvPr>
        </p:nvSpPr>
        <p:spPr>
          <a:xfrm>
            <a:off x="2941188" y="333637"/>
            <a:ext cx="3332100" cy="277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9"/>
          <p:cNvSpPr>
            <a:spLocks noGrp="1"/>
          </p:cNvSpPr>
          <p:nvPr>
            <p:ph type="pic" idx="4"/>
          </p:nvPr>
        </p:nvSpPr>
        <p:spPr>
          <a:xfrm>
            <a:off x="6425700" y="321562"/>
            <a:ext cx="2438400" cy="448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subTitle" idx="1"/>
          </p:nvPr>
        </p:nvSpPr>
        <p:spPr>
          <a:xfrm>
            <a:off x="422251" y="4044350"/>
            <a:ext cx="4851600" cy="7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422251" y="3327050"/>
            <a:ext cx="4851600" cy="71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0"/>
          <p:cNvSpPr>
            <a:spLocks noGrp="1"/>
          </p:cNvSpPr>
          <p:nvPr>
            <p:ph type="pic" idx="2"/>
          </p:nvPr>
        </p:nvSpPr>
        <p:spPr>
          <a:xfrm>
            <a:off x="3054576" y="327600"/>
            <a:ext cx="5651100" cy="2945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20"/>
          <p:cNvSpPr>
            <a:spLocks noGrp="1"/>
          </p:cNvSpPr>
          <p:nvPr>
            <p:ph type="pic" idx="3"/>
          </p:nvPr>
        </p:nvSpPr>
        <p:spPr>
          <a:xfrm>
            <a:off x="438276" y="327600"/>
            <a:ext cx="2438400" cy="448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subTitle" idx="1"/>
          </p:nvPr>
        </p:nvSpPr>
        <p:spPr>
          <a:xfrm>
            <a:off x="870396" y="1837125"/>
            <a:ext cx="2383800" cy="82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ubTitle" idx="2"/>
          </p:nvPr>
        </p:nvSpPr>
        <p:spPr>
          <a:xfrm>
            <a:off x="870396" y="2661200"/>
            <a:ext cx="2383800" cy="12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subTitle" idx="3"/>
          </p:nvPr>
        </p:nvSpPr>
        <p:spPr>
          <a:xfrm>
            <a:off x="3380100" y="2661200"/>
            <a:ext cx="2383800" cy="12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ubTitle" idx="4"/>
          </p:nvPr>
        </p:nvSpPr>
        <p:spPr>
          <a:xfrm>
            <a:off x="5889804" y="2661200"/>
            <a:ext cx="2383800" cy="12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subTitle" idx="5"/>
          </p:nvPr>
        </p:nvSpPr>
        <p:spPr>
          <a:xfrm>
            <a:off x="3380100" y="1837125"/>
            <a:ext cx="2383800" cy="82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subTitle" idx="6"/>
          </p:nvPr>
        </p:nvSpPr>
        <p:spPr>
          <a:xfrm>
            <a:off x="5889804" y="1837125"/>
            <a:ext cx="2383800" cy="82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subTitle" idx="1"/>
          </p:nvPr>
        </p:nvSpPr>
        <p:spPr>
          <a:xfrm>
            <a:off x="957912" y="1549225"/>
            <a:ext cx="3287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ubTitle" idx="2"/>
          </p:nvPr>
        </p:nvSpPr>
        <p:spPr>
          <a:xfrm>
            <a:off x="957912" y="2034025"/>
            <a:ext cx="3287100" cy="90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subTitle" idx="3"/>
          </p:nvPr>
        </p:nvSpPr>
        <p:spPr>
          <a:xfrm>
            <a:off x="4898988" y="2034025"/>
            <a:ext cx="3287100" cy="90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ubTitle" idx="4"/>
          </p:nvPr>
        </p:nvSpPr>
        <p:spPr>
          <a:xfrm>
            <a:off x="957912" y="3423950"/>
            <a:ext cx="3287100" cy="90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subTitle" idx="5"/>
          </p:nvPr>
        </p:nvSpPr>
        <p:spPr>
          <a:xfrm>
            <a:off x="4898988" y="3423950"/>
            <a:ext cx="3287100" cy="90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ubTitle" idx="6"/>
          </p:nvPr>
        </p:nvSpPr>
        <p:spPr>
          <a:xfrm>
            <a:off x="957912" y="2939150"/>
            <a:ext cx="3287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7"/>
          </p:nvPr>
        </p:nvSpPr>
        <p:spPr>
          <a:xfrm>
            <a:off x="4898986" y="1549225"/>
            <a:ext cx="3287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166" name="Google Shape;166;p22"/>
          <p:cNvSpPr txBox="1">
            <a:spLocks noGrp="1"/>
          </p:cNvSpPr>
          <p:nvPr>
            <p:ph type="subTitle" idx="8"/>
          </p:nvPr>
        </p:nvSpPr>
        <p:spPr>
          <a:xfrm>
            <a:off x="4898986" y="2939150"/>
            <a:ext cx="3287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grpSp>
        <p:nvGrpSpPr>
          <p:cNvPr id="167" name="Google Shape;167;p22"/>
          <p:cNvGrpSpPr/>
          <p:nvPr/>
        </p:nvGrpSpPr>
        <p:grpSpPr>
          <a:xfrm flipH="1"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168" name="Google Shape;168;p22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9" name="Google Shape;169;p22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subTitle" idx="1"/>
          </p:nvPr>
        </p:nvSpPr>
        <p:spPr>
          <a:xfrm>
            <a:off x="750452" y="1882668"/>
            <a:ext cx="2504400" cy="94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ubTitle" idx="2"/>
          </p:nvPr>
        </p:nvSpPr>
        <p:spPr>
          <a:xfrm>
            <a:off x="3319798" y="1882668"/>
            <a:ext cx="2504400" cy="94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subTitle" idx="3"/>
          </p:nvPr>
        </p:nvSpPr>
        <p:spPr>
          <a:xfrm>
            <a:off x="5889144" y="1882668"/>
            <a:ext cx="2504400" cy="94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subTitle" idx="4"/>
          </p:nvPr>
        </p:nvSpPr>
        <p:spPr>
          <a:xfrm>
            <a:off x="750450" y="3484200"/>
            <a:ext cx="2504400" cy="94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subTitle" idx="5"/>
          </p:nvPr>
        </p:nvSpPr>
        <p:spPr>
          <a:xfrm>
            <a:off x="3319798" y="3484200"/>
            <a:ext cx="2504400" cy="94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3"/>
          <p:cNvSpPr txBox="1">
            <a:spLocks noGrp="1"/>
          </p:cNvSpPr>
          <p:nvPr>
            <p:ph type="subTitle" idx="6"/>
          </p:nvPr>
        </p:nvSpPr>
        <p:spPr>
          <a:xfrm>
            <a:off x="5889145" y="3484200"/>
            <a:ext cx="2504400" cy="94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3"/>
          <p:cNvSpPr txBox="1">
            <a:spLocks noGrp="1"/>
          </p:cNvSpPr>
          <p:nvPr>
            <p:ph type="subTitle" idx="7"/>
          </p:nvPr>
        </p:nvSpPr>
        <p:spPr>
          <a:xfrm>
            <a:off x="745200" y="1384325"/>
            <a:ext cx="2504400" cy="49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subTitle" idx="8"/>
          </p:nvPr>
        </p:nvSpPr>
        <p:spPr>
          <a:xfrm>
            <a:off x="3319800" y="1384325"/>
            <a:ext cx="2504400" cy="49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subTitle" idx="9"/>
          </p:nvPr>
        </p:nvSpPr>
        <p:spPr>
          <a:xfrm>
            <a:off x="5894400" y="1384325"/>
            <a:ext cx="2504400" cy="49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subTitle" idx="13"/>
          </p:nvPr>
        </p:nvSpPr>
        <p:spPr>
          <a:xfrm>
            <a:off x="745200" y="2981478"/>
            <a:ext cx="2504400" cy="49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subTitle" idx="14"/>
          </p:nvPr>
        </p:nvSpPr>
        <p:spPr>
          <a:xfrm>
            <a:off x="3319798" y="2981478"/>
            <a:ext cx="2504400" cy="49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subTitle" idx="15"/>
          </p:nvPr>
        </p:nvSpPr>
        <p:spPr>
          <a:xfrm>
            <a:off x="5894400" y="2981400"/>
            <a:ext cx="2504400" cy="49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grpSp>
        <p:nvGrpSpPr>
          <p:cNvPr id="185" name="Google Shape;185;p23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186" name="Google Shape;186;p23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7" name="Google Shape;187;p23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9" name="Google Shape;189;p23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190" name="Google Shape;190;p23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1" name="Google Shape;191;p23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" name="Google Shape;192;p23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4"/>
          <p:cNvSpPr txBox="1">
            <a:spLocks noGrp="1"/>
          </p:cNvSpPr>
          <p:nvPr>
            <p:ph type="ctrTitle"/>
          </p:nvPr>
        </p:nvSpPr>
        <p:spPr>
          <a:xfrm>
            <a:off x="2429925" y="753138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6" name="Google Shape;196;p24"/>
          <p:cNvSpPr txBox="1">
            <a:spLocks noGrp="1"/>
          </p:cNvSpPr>
          <p:nvPr>
            <p:ph type="subTitle" idx="1"/>
          </p:nvPr>
        </p:nvSpPr>
        <p:spPr>
          <a:xfrm>
            <a:off x="2425050" y="1787863"/>
            <a:ext cx="42939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97" name="Google Shape;197;p24"/>
          <p:cNvGrpSpPr/>
          <p:nvPr/>
        </p:nvGrpSpPr>
        <p:grpSpPr>
          <a:xfrm rot="10800000" flipH="1"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198" name="Google Shape;198;p24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9" name="Google Shape;199;p24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" name="Google Shape;200;p24"/>
          <p:cNvSpPr txBox="1"/>
          <p:nvPr/>
        </p:nvSpPr>
        <p:spPr>
          <a:xfrm>
            <a:off x="2429925" y="2881688"/>
            <a:ext cx="42840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1000" b="1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icons,</a:t>
            </a:r>
            <a:r>
              <a:rPr lang="en" sz="10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1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infographics &amp; images by </a:t>
            </a:r>
            <a:r>
              <a:rPr lang="en" sz="1000" b="1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25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204" name="Google Shape;204;p25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5" name="Google Shape;205;p25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8" name="Google Shape;208;p26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209" name="Google Shape;209;p26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0" name="Google Shape;210;p26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26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2" name="Google Shape;212;p26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213" name="Google Shape;213;p26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4" name="Google Shape;214;p26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26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●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○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■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●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○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■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●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○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Albert Sans"/>
              <a:buChar char="■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447" y="278475"/>
            <a:ext cx="818350" cy="8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 txBox="1"/>
          <p:nvPr/>
        </p:nvSpPr>
        <p:spPr>
          <a:xfrm>
            <a:off x="1679809" y="497141"/>
            <a:ext cx="5992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Prasad V. Potluri Siddhartha Institute of Technology</a:t>
            </a:r>
            <a:endParaRPr sz="1800" b="1">
              <a:solidFill>
                <a:srgbClr val="FF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27"/>
          <p:cNvSpPr txBox="1"/>
          <p:nvPr/>
        </p:nvSpPr>
        <p:spPr>
          <a:xfrm>
            <a:off x="513770" y="1270000"/>
            <a:ext cx="8113500" cy="15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Advanced ResNet50 - Autoencoder Framework for Multi-Class Eye Disease Classification</a:t>
            </a:r>
            <a:endParaRPr sz="3000" b="1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333479" y="3061675"/>
            <a:ext cx="4221300" cy="15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Team Members : </a:t>
            </a:r>
            <a:endParaRPr sz="110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500"/>
              <a:buFont typeface="Proxima Nova"/>
              <a:buAutoNum type="arabicPeriod"/>
            </a:pPr>
            <a:r>
              <a:rPr lang="en" sz="15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T. N. S. Samanvitha</a:t>
            </a:r>
            <a:r>
              <a:rPr lang="en"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     (22501A05H6)</a:t>
            </a:r>
            <a:endParaRPr sz="15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500"/>
              <a:buFont typeface="Proxima Nova"/>
              <a:buAutoNum type="arabicPeriod"/>
            </a:pPr>
            <a:r>
              <a:rPr lang="en" sz="15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T. Gayathri</a:t>
            </a:r>
            <a:r>
              <a:rPr lang="en"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 (22501A05H7)</a:t>
            </a:r>
            <a:endParaRPr sz="15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500"/>
              <a:buFont typeface="Proxima Nova"/>
              <a:buAutoNum type="arabicPeriod"/>
            </a:pPr>
            <a:r>
              <a:rPr lang="en" sz="15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V. Gnaneswari</a:t>
            </a:r>
            <a:r>
              <a:rPr lang="en"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(22501A05J3)</a:t>
            </a:r>
            <a:endParaRPr sz="15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500"/>
              <a:buFont typeface="Proxima Nova"/>
              <a:buAutoNum type="arabicPeriod"/>
            </a:pPr>
            <a:r>
              <a:rPr lang="en" sz="15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S. Sushruth</a:t>
            </a:r>
            <a:r>
              <a:rPr lang="en"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(22501A05G8)</a:t>
            </a:r>
            <a:endParaRPr sz="15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4" name="Google Shape;224;p27"/>
          <p:cNvSpPr txBox="1"/>
          <p:nvPr/>
        </p:nvSpPr>
        <p:spPr>
          <a:xfrm>
            <a:off x="5413332" y="3107656"/>
            <a:ext cx="3000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Guide :</a:t>
            </a:r>
            <a:r>
              <a:rPr lang="en" sz="180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80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53744"/>
                </a:solidFill>
                <a:latin typeface="Proxima Nova"/>
                <a:ea typeface="Proxima Nova"/>
                <a:cs typeface="Proxima Nova"/>
                <a:sym typeface="Proxima Nova"/>
              </a:rPr>
              <a:t>Mr. Bala Bhaskara Rao Emani</a:t>
            </a:r>
            <a:r>
              <a:rPr lang="en" sz="1800" b="1">
                <a:solidFill>
                  <a:srgbClr val="353744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800" b="1">
              <a:solidFill>
                <a:srgbClr val="35374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53744"/>
                </a:solidFill>
                <a:latin typeface="Proxima Nova"/>
                <a:ea typeface="Proxima Nova"/>
                <a:cs typeface="Proxima Nova"/>
                <a:sym typeface="Proxima Nova"/>
              </a:rPr>
              <a:t>Assistant Professor</a:t>
            </a:r>
            <a:endParaRPr>
              <a:solidFill>
                <a:srgbClr val="35374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5374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C4C9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>
            <a:spLocks noGrp="1"/>
          </p:cNvSpPr>
          <p:nvPr>
            <p:ph type="title" idx="4294967295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dirty="0">
                <a:latin typeface="Quicksand"/>
                <a:ea typeface="Quicksand"/>
                <a:cs typeface="Quicksand"/>
                <a:sym typeface="Quicksand"/>
              </a:rPr>
              <a:t>Contents</a:t>
            </a:r>
            <a:endParaRPr b="1" i="0" dirty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553550" y="1209377"/>
            <a:ext cx="4018500" cy="34464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to the Problem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Objectives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Analysis - Existing System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Analysis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of Proposed System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4761925" y="1209377"/>
            <a:ext cx="3796200" cy="34464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Times New Roman"/>
              <a:buChar char="➢"/>
            </a:pPr>
            <a:r>
              <a:rPr lang="en" sz="1700" b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Conference Accpetance Letter &amp; Presentation Certificates</a:t>
            </a:r>
            <a:endParaRPr sz="1700" b="1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dirty="0">
                <a:latin typeface="Quicksand"/>
                <a:ea typeface="Quicksand"/>
                <a:cs typeface="Quicksand"/>
                <a:sym typeface="Quicksand"/>
              </a:rPr>
              <a:t>Abstract</a:t>
            </a:r>
            <a:endParaRPr b="1" i="0" dirty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383875" y="879411"/>
            <a:ext cx="5687315" cy="3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This project presents a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deep learning-based approach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automated eye disease classification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using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retinal fundus images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. It focuses on detecting diseases such as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Cataract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Diabetic Retinopathy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Glaucoma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through a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hybrid framework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combining a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Residual Autoencoder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ResNet50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. The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autoencoder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is used for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image denoising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feature enhancement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, while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ResNet50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performs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feature extraction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classification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using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transfer learning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. The model supports both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binary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multi-class classification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and achieves high performance in terms of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precision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recall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F1-score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. This system can assist in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early diagnosis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and enable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scalable, automated screening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real-world healthcare applications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8" name="Google Shape;238;p29" title="dicarlo_900x60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2525" y="1760657"/>
            <a:ext cx="2380626" cy="17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dirty="0">
                <a:latin typeface="Quicksand"/>
                <a:ea typeface="Quicksand"/>
                <a:cs typeface="Quicksand"/>
                <a:sym typeface="Quicksand"/>
              </a:rPr>
              <a:t>Introduction</a:t>
            </a:r>
            <a:endParaRPr b="1" i="0" dirty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44" name="Google Shape;244;p30"/>
          <p:cNvSpPr txBox="1"/>
          <p:nvPr/>
        </p:nvSpPr>
        <p:spPr>
          <a:xfrm>
            <a:off x="242816" y="778337"/>
            <a:ext cx="5717700" cy="3464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Eye diseases such as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Cataract, Diabetic Retinopathy, and Glaucoma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are major causes of vision impairment worldwide.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Early and accurate detection is essential to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prevent permanent vision loss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Traditional diagnosis relies on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manual retinal image examination by ophthalmologists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, which is time-consuming and resource-intensive.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Deep learning techniques have shown strong potential for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automated retinal image analysis and disease detection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However, existing models may struggle with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noise in retinal images and distinguishing visually similar disease patterns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5" name="Google Shape;2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0402" y="1698562"/>
            <a:ext cx="2748796" cy="1829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dirty="0">
                <a:latin typeface="Quicksand"/>
                <a:ea typeface="Quicksand"/>
                <a:cs typeface="Quicksand"/>
                <a:sym typeface="Quicksand"/>
              </a:rPr>
              <a:t>Problem Statement</a:t>
            </a:r>
            <a:endParaRPr b="1" i="0" dirty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51" name="Google Shape;251;p31"/>
          <p:cNvSpPr txBox="1"/>
          <p:nvPr/>
        </p:nvSpPr>
        <p:spPr>
          <a:xfrm>
            <a:off x="429500" y="825520"/>
            <a:ext cx="54183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Existing deep learning models often struggle with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noise and variations in retinal images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Retinal diseases such as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Cataract, Diabetic Retinopathy, and Glaucoma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can exhibit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visually similar patterns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, making accurate classification difficult.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Traditional CNN models may face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overfitting and reduced generalization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when applied to medical images.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Therefore, there is a need for a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robust and efficient deep learning framework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capable of improving retinal image classification accuracy.</a:t>
            </a:r>
            <a:endParaRPr dirty="0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8125" y="1979323"/>
            <a:ext cx="2167450" cy="144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dirty="0">
                <a:latin typeface="Quicksand"/>
                <a:ea typeface="Quicksand"/>
                <a:cs typeface="Quicksand"/>
                <a:sym typeface="Quicksand"/>
              </a:rPr>
              <a:t>Solution to the Problem</a:t>
            </a:r>
            <a:endParaRPr b="1" i="0" dirty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58" name="Google Shape;258;p32"/>
          <p:cNvSpPr txBox="1"/>
          <p:nvPr/>
        </p:nvSpPr>
        <p:spPr>
          <a:xfrm>
            <a:off x="607550" y="1150126"/>
            <a:ext cx="7853100" cy="30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Propose a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hybrid deep learning framework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combining Residual Autoencoder and ResNet50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Use a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Residual Autoencoder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to reduce noise and enhance retinal image quality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Preserve important medical features using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residual learning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Apply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ResNet50 (transfer learning)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for robust deep feature extraction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Perform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binary and multi-class classification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of eye diseases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Improve model performance using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regularization and dropout techniques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Achieve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high accuracy and better generalization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across multiple eye diseases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Provide an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automated, scalable solution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for early diagnosis and screening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dirty="0">
                <a:latin typeface="Quicksand"/>
                <a:ea typeface="Quicksand"/>
                <a:cs typeface="Quicksand"/>
                <a:sym typeface="Quicksand"/>
              </a:rPr>
              <a:t>Research Objectives</a:t>
            </a:r>
            <a:endParaRPr b="1" i="0" dirty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193375" y="885250"/>
            <a:ext cx="5836200" cy="3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Develop an automated system for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eye disease classification using retinal images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Design a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hybrid Autoencoder–ResNet50 framework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Enhance image quality using a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residual autoencoder for denoising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Extract deep features using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transfer learning (ResNet50)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Perform both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binary and multi-class classification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of eye diseases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Improve model performance using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regularization and dropout techniques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Achieve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high accuracy and robust generalization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across datasets</a:t>
            </a:r>
            <a:endParaRPr sz="1500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5" name="Google Shape;26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7350" y="1653350"/>
            <a:ext cx="2648825" cy="18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>
            <a:spLocks noGrp="1"/>
          </p:cNvSpPr>
          <p:nvPr>
            <p:ph type="title"/>
          </p:nvPr>
        </p:nvSpPr>
        <p:spPr>
          <a:xfrm>
            <a:off x="720000" y="2192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dirty="0">
                <a:latin typeface="Quicksand"/>
                <a:ea typeface="Quicksand"/>
                <a:cs typeface="Quicksand"/>
                <a:sym typeface="Quicksand"/>
              </a:rPr>
              <a:t>Literature Review</a:t>
            </a:r>
            <a:endParaRPr b="1" i="0" dirty="0">
              <a:latin typeface="Quicksand"/>
              <a:ea typeface="Quicksand"/>
              <a:cs typeface="Quicksand"/>
              <a:sym typeface="Quicksand"/>
            </a:endParaRPr>
          </a:p>
        </p:txBody>
      </p:sp>
      <p:graphicFrame>
        <p:nvGraphicFramePr>
          <p:cNvPr id="271" name="Google Shape;271;p34"/>
          <p:cNvGraphicFramePr/>
          <p:nvPr/>
        </p:nvGraphicFramePr>
        <p:xfrm>
          <a:off x="334252" y="800561"/>
          <a:ext cx="8417500" cy="3923070"/>
        </p:xfrm>
        <a:graphic>
          <a:graphicData uri="http://schemas.openxmlformats.org/drawingml/2006/table">
            <a:tbl>
              <a:tblPr>
                <a:noFill/>
                <a:tableStyleId>{CCDB37E8-0972-4434-97EE-2D51B9529329}</a:tableStyleId>
              </a:tblPr>
              <a:tblGrid>
                <a:gridCol w="4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6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Paper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Techniques Used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Cataract and Glaucoma Detection Based on Transfer Learning using MobileNet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MobileNetV1, MobileNetV2, Transfer Learning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Achieved good accuracy in </a:t>
                      </a: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binary classification</a:t>
                      </a: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of cataract and glaucoma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drops in </a:t>
                      </a: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multi-class classification</a:t>
                      </a: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; difficulty distinguishing similar diseases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1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Improving Automated Detection of Cataract Disease through Transfer Learning using ResNet50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ResNet50, CNN, VGG16, Transfer Learning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ResNet50 shows strong feature extraction</a:t>
                      </a: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better performance compared to CNN &amp; VGG16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depends on </a:t>
                      </a: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quality and model tuning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Learning-Based Cataract Detection and Grading from Slit-Lamp and Retro-Illumination Photographs: </a:t>
                      </a:r>
                      <a:r>
                        <a:rPr lang="en" sz="11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Development and Validation Study</a:t>
                      </a:r>
                      <a:endParaRPr sz="1100" b="1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CNN, Specialized imaging (slit-lamp &amp; retro-illumination)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Achieved </a:t>
                      </a: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accuracy</a:t>
                      </a: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using controlled imaging techniques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</a:t>
                      </a: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generalization</a:t>
                      </a: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normal fundus images; depends on controlled conditions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1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Automatic Glaucoma Classification using Color Fundus Images Based on CNN and Transfer Learning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Ensemble CNN, Inception, ResNet, Transfer Learning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</a:t>
                      </a: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AUC and sensitivity</a:t>
                      </a: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achieved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computational cost</a:t>
                      </a: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; not suitable for large-scale deployment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dirty="0">
                <a:latin typeface="Quicksand"/>
                <a:ea typeface="Quicksand"/>
                <a:cs typeface="Quicksand"/>
                <a:sym typeface="Quicksand"/>
              </a:rPr>
              <a:t>System Analysis - Existing System</a:t>
            </a:r>
            <a:endParaRPr b="1" i="0" dirty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7" name="Google Shape;277;p35"/>
          <p:cNvSpPr txBox="1"/>
          <p:nvPr/>
        </p:nvSpPr>
        <p:spPr>
          <a:xfrm>
            <a:off x="234025" y="1036725"/>
            <a:ext cx="6583500" cy="3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Traditional eye disease diagnosis relies on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manual examination by ophthalmologists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Requires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high expertise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and is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time-consuming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Prone to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human error and variability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in diagnosis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Existing deep learning models like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CNN, VGG, MobileNet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are widely used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These models often struggle with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noisy and low-quality retinal images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Difficulty in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extracting robust features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from complex medical images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Limited performance in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multi-class classification of similar diseases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High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computational cost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and dependency on large datasets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Poor </a:t>
            </a: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generalization across different datasets and conditions</a:t>
            </a:r>
            <a:endParaRPr sz="15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8" name="Google Shape;278;p35"/>
          <p:cNvGrpSpPr/>
          <p:nvPr/>
        </p:nvGrpSpPr>
        <p:grpSpPr>
          <a:xfrm>
            <a:off x="6660932" y="1283552"/>
            <a:ext cx="2022900" cy="3091666"/>
            <a:chOff x="6100332" y="1186352"/>
            <a:chExt cx="2022900" cy="3091666"/>
          </a:xfrm>
        </p:grpSpPr>
        <p:pic>
          <p:nvPicPr>
            <p:cNvPr id="279" name="Google Shape;279;p35" title="img59.jp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63463" y="1186352"/>
              <a:ext cx="994800" cy="99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35"/>
            <p:cNvSpPr txBox="1"/>
            <p:nvPr/>
          </p:nvSpPr>
          <p:spPr>
            <a:xfrm>
              <a:off x="6154979" y="2122965"/>
              <a:ext cx="1915200" cy="63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5C5C5F"/>
                  </a:solidFill>
                  <a:latin typeface="Mulish"/>
                  <a:ea typeface="Mulish"/>
                  <a:cs typeface="Mulish"/>
                  <a:sym typeface="Mulish"/>
                </a:rPr>
                <a:t>Noisy Retinal Image</a:t>
              </a:r>
              <a:endParaRPr b="1">
                <a:solidFill>
                  <a:srgbClr val="5C5C5F"/>
                </a:solidFill>
                <a:latin typeface="Mulish"/>
                <a:ea typeface="Mulish"/>
                <a:cs typeface="Mulish"/>
                <a:sym typeface="Mulish"/>
              </a:endParaRPr>
            </a:p>
          </p:txBody>
        </p:sp>
        <p:sp>
          <p:nvSpPr>
            <p:cNvPr id="281" name="Google Shape;281;p35"/>
            <p:cNvSpPr/>
            <p:nvPr/>
          </p:nvSpPr>
          <p:spPr>
            <a:xfrm>
              <a:off x="6299003" y="2769491"/>
              <a:ext cx="1597800" cy="5019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rgbClr val="809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latin typeface="Mulish"/>
                  <a:ea typeface="Mulish"/>
                  <a:cs typeface="Mulish"/>
                  <a:sym typeface="Mulish"/>
                </a:rPr>
                <a:t>Existing Models</a:t>
              </a:r>
              <a:endParaRPr b="1">
                <a:latin typeface="Mulish"/>
                <a:ea typeface="Mulish"/>
                <a:cs typeface="Mulish"/>
                <a:sym typeface="Mulish"/>
              </a:endParaRPr>
            </a:p>
          </p:txBody>
        </p:sp>
        <p:sp>
          <p:nvSpPr>
            <p:cNvPr id="282" name="Google Shape;282;p35"/>
            <p:cNvSpPr/>
            <p:nvPr/>
          </p:nvSpPr>
          <p:spPr>
            <a:xfrm>
              <a:off x="6100332" y="3642919"/>
              <a:ext cx="2022900" cy="6351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rgbClr val="809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Mulish"/>
                  <a:ea typeface="Mulish"/>
                  <a:cs typeface="Mulish"/>
                  <a:sym typeface="Mulish"/>
                </a:rPr>
                <a:t>Misclassification</a:t>
              </a:r>
              <a:endParaRPr sz="1200" b="1">
                <a:latin typeface="Mulish"/>
                <a:ea typeface="Mulish"/>
                <a:cs typeface="Mulish"/>
                <a:sym typeface="Mulish"/>
              </a:endParaRPr>
            </a:p>
          </p:txBody>
        </p:sp>
        <p:sp>
          <p:nvSpPr>
            <p:cNvPr id="283" name="Google Shape;283;p35"/>
            <p:cNvSpPr/>
            <p:nvPr/>
          </p:nvSpPr>
          <p:spPr>
            <a:xfrm>
              <a:off x="6989138" y="2471178"/>
              <a:ext cx="175500" cy="2868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AFAFA"/>
            </a:solidFill>
            <a:ln w="9525" cap="flat" cmpd="sng">
              <a:solidFill>
                <a:srgbClr val="809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"/>
                <a:ea typeface="Mulish"/>
                <a:cs typeface="Mulish"/>
                <a:sym typeface="Mulish"/>
              </a:endParaRPr>
            </a:p>
          </p:txBody>
        </p:sp>
        <p:sp>
          <p:nvSpPr>
            <p:cNvPr id="284" name="Google Shape;284;p35"/>
            <p:cNvSpPr/>
            <p:nvPr/>
          </p:nvSpPr>
          <p:spPr>
            <a:xfrm>
              <a:off x="6989605" y="3338927"/>
              <a:ext cx="175500" cy="2868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AFAFA"/>
            </a:solidFill>
            <a:ln w="9525" cap="flat" cmpd="sng">
              <a:solidFill>
                <a:srgbClr val="809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"/>
                <a:ea typeface="Mulish"/>
                <a:cs typeface="Mulish"/>
                <a:sym typeface="Mulish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Proposed System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90" name="Google Shape;290;p36"/>
          <p:cNvPicPr preferRelativeResize="0"/>
          <p:nvPr/>
        </p:nvPicPr>
        <p:blipFill rotWithShape="1">
          <a:blip r:embed="rId3">
            <a:alphaModFix/>
          </a:blip>
          <a:srcRect t="25101" b="28140"/>
          <a:stretch/>
        </p:blipFill>
        <p:spPr>
          <a:xfrm>
            <a:off x="422825" y="1307268"/>
            <a:ext cx="8298351" cy="2563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>
            <a:spLocks noGrp="1"/>
          </p:cNvSpPr>
          <p:nvPr>
            <p:ph type="title"/>
          </p:nvPr>
        </p:nvSpPr>
        <p:spPr>
          <a:xfrm>
            <a:off x="470475" y="409725"/>
            <a:ext cx="8295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Requirement Analysis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525425" y="901982"/>
            <a:ext cx="4454100" cy="3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💻 Hardware Requirements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System with </a:t>
            </a: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internet connectivity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GPU support (via cloud platforms like Google Colab)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Minimum </a:t>
            </a: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8GB RAM (recommended)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🛠️ Software Requirements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200"/>
              <a:buChar char="●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Programming Language: </a:t>
            </a: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Libraries: </a:t>
            </a: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TensorFlow, Keras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Platform: </a:t>
            </a: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Google Colab / Jupyter Notebook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🗂️ Dataset Requirements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Retinal fundus images from </a:t>
            </a: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Kaggle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Classes: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Cataract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Diabetic Retinopathy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Glaucoma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Normal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7" name="Google Shape;29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525" y="1029575"/>
            <a:ext cx="1742800" cy="17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0400" y="1145337"/>
            <a:ext cx="1303550" cy="137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7525" y="2681999"/>
            <a:ext cx="3438525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Design of Proposed System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05" name="Google Shape;30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361" y="1472730"/>
            <a:ext cx="6452399" cy="302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8"/>
          <p:cNvSpPr txBox="1"/>
          <p:nvPr/>
        </p:nvSpPr>
        <p:spPr>
          <a:xfrm>
            <a:off x="460050" y="1017301"/>
            <a:ext cx="30519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System Architecture: </a:t>
            </a:r>
            <a:endParaRPr sz="2500" b="1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720000" y="2452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Methodology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2" name="Google Shape;312;p39"/>
          <p:cNvSpPr txBox="1"/>
          <p:nvPr/>
        </p:nvSpPr>
        <p:spPr>
          <a:xfrm>
            <a:off x="197550" y="489966"/>
            <a:ext cx="4948608" cy="424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Image Acquisition</a:t>
            </a:r>
            <a:endParaRPr sz="13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○"/>
            </a:pP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Collection of retinal fundus images representing multiple eye disease classes</a:t>
            </a:r>
            <a:endParaRPr sz="1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Image Preprocessing</a:t>
            </a:r>
            <a:endParaRPr sz="13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○"/>
            </a:pP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Resizing, normalization, and enhancement to improve image quality</a:t>
            </a:r>
            <a:endParaRPr sz="1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Feature Enhancement using Autoencoder</a:t>
            </a:r>
            <a:endParaRPr sz="13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Residual autoencoder used to </a:t>
            </a: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denoise images while preserving important features</a:t>
            </a:r>
            <a:endParaRPr sz="13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Classification using ResNet50</a:t>
            </a:r>
            <a:endParaRPr sz="13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Deep feature extraction and </a:t>
            </a: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accurate multi-class classification</a:t>
            </a: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 using transfer learning</a:t>
            </a:r>
            <a:endParaRPr sz="1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Performance Evaluation</a:t>
            </a:r>
            <a:endParaRPr sz="13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Evaluation using </a:t>
            </a: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accuracy, loss, and confusion matrix</a:t>
            </a:r>
            <a:endParaRPr sz="13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Modular and Scalable Design</a:t>
            </a:r>
            <a:endParaRPr sz="13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○"/>
            </a:pP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System can be easily extended to additional diseases and larger datasets</a:t>
            </a:r>
            <a:endParaRPr sz="13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3" name="Google Shape;313;p39"/>
          <p:cNvPicPr preferRelativeResize="0"/>
          <p:nvPr/>
        </p:nvPicPr>
        <p:blipFill rotWithShape="1">
          <a:blip r:embed="rId3">
            <a:alphaModFix/>
          </a:blip>
          <a:srcRect t="24847" b="25843"/>
          <a:stretch/>
        </p:blipFill>
        <p:spPr>
          <a:xfrm>
            <a:off x="4742575" y="1993397"/>
            <a:ext cx="4163601" cy="136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720000" y="2971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Dataset Description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9" name="Google Shape;319;p40"/>
          <p:cNvSpPr txBox="1"/>
          <p:nvPr/>
        </p:nvSpPr>
        <p:spPr>
          <a:xfrm>
            <a:off x="316800" y="561788"/>
            <a:ext cx="5868000" cy="39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The dataset used in this study consists of </a:t>
            </a: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retinal fundus images obtained from Kaggle</a:t>
            </a: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The dataset contains four categories:</a:t>
            </a:r>
            <a:endParaRPr sz="1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○"/>
            </a:pP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Cataract : 1000 images</a:t>
            </a:r>
            <a:endParaRPr sz="13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○"/>
            </a:pP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Diabetic Retinopathy : 1000 images </a:t>
            </a:r>
            <a:endParaRPr sz="13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○"/>
            </a:pP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Glaucoma : 1000 images</a:t>
            </a:r>
            <a:endParaRPr sz="13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○"/>
            </a:pP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Normal : 1000 images</a:t>
            </a:r>
            <a:endParaRPr sz="13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All images were </a:t>
            </a: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preprocessed and resized to 224 × 224 pixels</a:t>
            </a: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 before being used for training.</a:t>
            </a:r>
            <a:endParaRPr sz="1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The dataset was divided into </a:t>
            </a: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training and validation sets using an 80:20 split</a:t>
            </a: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These images were used to evaluate the performance of the </a:t>
            </a:r>
            <a:r>
              <a:rPr lang="en" sz="1300" b="1" dirty="0">
                <a:latin typeface="Times New Roman"/>
                <a:ea typeface="Times New Roman"/>
                <a:cs typeface="Times New Roman"/>
                <a:sym typeface="Times New Roman"/>
              </a:rPr>
              <a:t>ResNet50-based deep learning framework</a:t>
            </a:r>
            <a:r>
              <a:rPr lang="en" sz="1300" dirty="0">
                <a:latin typeface="Times New Roman"/>
                <a:ea typeface="Times New Roman"/>
                <a:cs typeface="Times New Roman"/>
                <a:sym typeface="Times New Roman"/>
              </a:rPr>
              <a:t> for retinal disease classification.</a:t>
            </a:r>
            <a:endParaRPr sz="1300" dirty="0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0" name="Google Shape;320;p40" title="img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4800" y="1280980"/>
            <a:ext cx="1130700" cy="113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0" title="img15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61348" y="1270975"/>
            <a:ext cx="1130700" cy="113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0" title="img7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4800" y="2829160"/>
            <a:ext cx="1130700" cy="113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0" title="img2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61348" y="2849243"/>
            <a:ext cx="1130700" cy="113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0"/>
          <p:cNvSpPr txBox="1"/>
          <p:nvPr/>
        </p:nvSpPr>
        <p:spPr>
          <a:xfrm>
            <a:off x="6313864" y="2344541"/>
            <a:ext cx="9123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825" tIns="106825" rIns="106825" bIns="1068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2" b="1">
                <a:solidFill>
                  <a:srgbClr val="5C5C5F"/>
                </a:solidFill>
                <a:latin typeface="Mulish"/>
                <a:ea typeface="Mulish"/>
                <a:cs typeface="Mulish"/>
                <a:sym typeface="Mulish"/>
              </a:rPr>
              <a:t>Cataract</a:t>
            </a:r>
            <a:endParaRPr sz="1052" b="1">
              <a:solidFill>
                <a:srgbClr val="5C5C5F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25" name="Google Shape;325;p40"/>
          <p:cNvSpPr txBox="1"/>
          <p:nvPr/>
        </p:nvSpPr>
        <p:spPr>
          <a:xfrm>
            <a:off x="7561290" y="2342129"/>
            <a:ext cx="1130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825" tIns="106825" rIns="106825" bIns="1068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2" b="1">
                <a:solidFill>
                  <a:srgbClr val="5C5C5F"/>
                </a:solidFill>
                <a:latin typeface="Mulish"/>
                <a:ea typeface="Mulish"/>
                <a:cs typeface="Mulish"/>
                <a:sym typeface="Mulish"/>
              </a:rPr>
              <a:t>Diabetic Retinopathy</a:t>
            </a:r>
            <a:endParaRPr sz="1052" b="1">
              <a:solidFill>
                <a:srgbClr val="5C5C5F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26" name="Google Shape;326;p40"/>
          <p:cNvSpPr txBox="1"/>
          <p:nvPr/>
        </p:nvSpPr>
        <p:spPr>
          <a:xfrm>
            <a:off x="6313879" y="3921818"/>
            <a:ext cx="9123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825" tIns="106825" rIns="106825" bIns="1068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2" b="1">
                <a:solidFill>
                  <a:srgbClr val="5C5C5F"/>
                </a:solidFill>
                <a:latin typeface="Mulish"/>
                <a:ea typeface="Mulish"/>
                <a:cs typeface="Mulish"/>
                <a:sym typeface="Mulish"/>
              </a:rPr>
              <a:t>Glaucoma</a:t>
            </a:r>
            <a:endParaRPr sz="1052" b="1">
              <a:solidFill>
                <a:srgbClr val="5C5C5F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27" name="Google Shape;327;p40"/>
          <p:cNvSpPr txBox="1"/>
          <p:nvPr/>
        </p:nvSpPr>
        <p:spPr>
          <a:xfrm>
            <a:off x="7761904" y="3941854"/>
            <a:ext cx="9123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825" tIns="106825" rIns="106825" bIns="1068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2" b="1">
                <a:solidFill>
                  <a:srgbClr val="5C5C5F"/>
                </a:solidFill>
                <a:latin typeface="Mulish"/>
                <a:ea typeface="Mulish"/>
                <a:cs typeface="Mulish"/>
                <a:sym typeface="Mulish"/>
              </a:rPr>
              <a:t>Normal</a:t>
            </a:r>
            <a:endParaRPr sz="1052" b="1">
              <a:solidFill>
                <a:srgbClr val="5C5C5F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Implementation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33" name="Google Shape;333;p41"/>
          <p:cNvPicPr preferRelativeResize="0"/>
          <p:nvPr/>
        </p:nvPicPr>
        <p:blipFill rotWithShape="1">
          <a:blip r:embed="rId3">
            <a:alphaModFix/>
          </a:blip>
          <a:srcRect r="43039"/>
          <a:stretch/>
        </p:blipFill>
        <p:spPr>
          <a:xfrm>
            <a:off x="451887" y="1602175"/>
            <a:ext cx="8240225" cy="19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1"/>
          <p:cNvSpPr txBox="1"/>
          <p:nvPr/>
        </p:nvSpPr>
        <p:spPr>
          <a:xfrm>
            <a:off x="346825" y="1363900"/>
            <a:ext cx="547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1"/>
          <p:cNvSpPr txBox="1"/>
          <p:nvPr/>
        </p:nvSpPr>
        <p:spPr>
          <a:xfrm>
            <a:off x="460050" y="1017300"/>
            <a:ext cx="42708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Importing Required Libraries </a:t>
            </a:r>
            <a:endParaRPr sz="2500" b="1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Implementation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41" name="Google Shape;341;p42"/>
          <p:cNvPicPr preferRelativeResize="0"/>
          <p:nvPr/>
        </p:nvPicPr>
        <p:blipFill rotWithShape="1">
          <a:blip r:embed="rId3">
            <a:alphaModFix/>
          </a:blip>
          <a:srcRect r="44730"/>
          <a:stretch/>
        </p:blipFill>
        <p:spPr>
          <a:xfrm>
            <a:off x="2288902" y="1517016"/>
            <a:ext cx="4548900" cy="321492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2"/>
          <p:cNvSpPr txBox="1"/>
          <p:nvPr/>
        </p:nvSpPr>
        <p:spPr>
          <a:xfrm>
            <a:off x="477391" y="1017317"/>
            <a:ext cx="30519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Loading Dataset</a:t>
            </a:r>
            <a:endParaRPr sz="2500" b="1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Implementation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48" name="Google Shape;348;p43"/>
          <p:cNvPicPr preferRelativeResize="0"/>
          <p:nvPr/>
        </p:nvPicPr>
        <p:blipFill rotWithShape="1">
          <a:blip r:embed="rId3">
            <a:alphaModFix/>
          </a:blip>
          <a:srcRect t="11253" r="44601"/>
          <a:stretch/>
        </p:blipFill>
        <p:spPr>
          <a:xfrm>
            <a:off x="951430" y="1468586"/>
            <a:ext cx="7036851" cy="24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3"/>
          <p:cNvSpPr txBox="1"/>
          <p:nvPr/>
        </p:nvSpPr>
        <p:spPr>
          <a:xfrm>
            <a:off x="460050" y="1017300"/>
            <a:ext cx="35952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Residual Autoencoder</a:t>
            </a:r>
            <a:endParaRPr sz="2500" b="1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Implementation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55" name="Google Shape;355;p44"/>
          <p:cNvPicPr preferRelativeResize="0"/>
          <p:nvPr/>
        </p:nvPicPr>
        <p:blipFill rotWithShape="1">
          <a:blip r:embed="rId3">
            <a:alphaModFix/>
          </a:blip>
          <a:srcRect r="50495"/>
          <a:stretch/>
        </p:blipFill>
        <p:spPr>
          <a:xfrm>
            <a:off x="1802275" y="1442104"/>
            <a:ext cx="5152276" cy="2744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4"/>
          <p:cNvSpPr txBox="1"/>
          <p:nvPr/>
        </p:nvSpPr>
        <p:spPr>
          <a:xfrm>
            <a:off x="460050" y="965347"/>
            <a:ext cx="30519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Training Autoencoder</a:t>
            </a:r>
            <a:endParaRPr sz="2500" b="1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5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Implementation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62" name="Google Shape;362;p45"/>
          <p:cNvPicPr preferRelativeResize="0"/>
          <p:nvPr/>
        </p:nvPicPr>
        <p:blipFill rotWithShape="1">
          <a:blip r:embed="rId3">
            <a:alphaModFix/>
          </a:blip>
          <a:srcRect r="25004"/>
          <a:stretch/>
        </p:blipFill>
        <p:spPr>
          <a:xfrm>
            <a:off x="1199600" y="1505414"/>
            <a:ext cx="6744801" cy="2924726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5"/>
          <p:cNvSpPr txBox="1"/>
          <p:nvPr/>
        </p:nvSpPr>
        <p:spPr>
          <a:xfrm>
            <a:off x="460050" y="965350"/>
            <a:ext cx="58725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Final Model (Autoencoder + ResNet50)</a:t>
            </a:r>
            <a:endParaRPr sz="2500" b="1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Implementation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69" name="Google Shape;369;p46"/>
          <p:cNvPicPr preferRelativeResize="0"/>
          <p:nvPr/>
        </p:nvPicPr>
        <p:blipFill rotWithShape="1">
          <a:blip r:embed="rId3">
            <a:alphaModFix/>
          </a:blip>
          <a:srcRect t="7587" r="53133"/>
          <a:stretch/>
        </p:blipFill>
        <p:spPr>
          <a:xfrm>
            <a:off x="921175" y="1701622"/>
            <a:ext cx="7502828" cy="1423049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6"/>
          <p:cNvSpPr txBox="1"/>
          <p:nvPr/>
        </p:nvSpPr>
        <p:spPr>
          <a:xfrm>
            <a:off x="460050" y="965347"/>
            <a:ext cx="30519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Train Classifier</a:t>
            </a:r>
            <a:endParaRPr sz="2500" b="1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7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Implementation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76" name="Google Shape;376;p47"/>
          <p:cNvPicPr preferRelativeResize="0"/>
          <p:nvPr/>
        </p:nvPicPr>
        <p:blipFill rotWithShape="1">
          <a:blip r:embed="rId3">
            <a:alphaModFix/>
          </a:blip>
          <a:srcRect r="46981"/>
          <a:stretch/>
        </p:blipFill>
        <p:spPr>
          <a:xfrm>
            <a:off x="841750" y="1703027"/>
            <a:ext cx="7626327" cy="22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7"/>
          <p:cNvSpPr txBox="1"/>
          <p:nvPr/>
        </p:nvSpPr>
        <p:spPr>
          <a:xfrm>
            <a:off x="720000" y="1115022"/>
            <a:ext cx="30519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Evaluate Model</a:t>
            </a:r>
            <a:endParaRPr sz="2500" b="1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8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Implementation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83" name="Google Shape;383;p48"/>
          <p:cNvPicPr preferRelativeResize="0"/>
          <p:nvPr/>
        </p:nvPicPr>
        <p:blipFill rotWithShape="1">
          <a:blip r:embed="rId3">
            <a:alphaModFix/>
          </a:blip>
          <a:srcRect r="61472"/>
          <a:stretch/>
        </p:blipFill>
        <p:spPr>
          <a:xfrm>
            <a:off x="2293685" y="1620159"/>
            <a:ext cx="4504673" cy="31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8"/>
          <p:cNvSpPr txBox="1"/>
          <p:nvPr/>
        </p:nvSpPr>
        <p:spPr>
          <a:xfrm>
            <a:off x="243573" y="1034620"/>
            <a:ext cx="30519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Plot Training Curves</a:t>
            </a:r>
            <a:endParaRPr sz="2500" b="1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9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Implementation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90" name="Google Shape;390;p49"/>
          <p:cNvPicPr preferRelativeResize="0"/>
          <p:nvPr/>
        </p:nvPicPr>
        <p:blipFill rotWithShape="1">
          <a:blip r:embed="rId3">
            <a:alphaModFix/>
          </a:blip>
          <a:srcRect r="45088"/>
          <a:stretch/>
        </p:blipFill>
        <p:spPr>
          <a:xfrm>
            <a:off x="1612460" y="1528611"/>
            <a:ext cx="6057626" cy="323727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9"/>
          <p:cNvSpPr txBox="1"/>
          <p:nvPr/>
        </p:nvSpPr>
        <p:spPr>
          <a:xfrm>
            <a:off x="252225" y="982425"/>
            <a:ext cx="29805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Additional Metrics</a:t>
            </a:r>
            <a:endParaRPr sz="2500" b="1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0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Implementation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97" name="Google Shape;397;p50"/>
          <p:cNvPicPr preferRelativeResize="0"/>
          <p:nvPr/>
        </p:nvPicPr>
        <p:blipFill rotWithShape="1">
          <a:blip r:embed="rId3">
            <a:alphaModFix/>
          </a:blip>
          <a:srcRect r="52692"/>
          <a:stretch/>
        </p:blipFill>
        <p:spPr>
          <a:xfrm>
            <a:off x="1686868" y="1563721"/>
            <a:ext cx="5770276" cy="2674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0"/>
          <p:cNvSpPr txBox="1"/>
          <p:nvPr/>
        </p:nvSpPr>
        <p:spPr>
          <a:xfrm>
            <a:off x="252225" y="982425"/>
            <a:ext cx="28248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sz="2500" b="1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1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Testing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404" name="Google Shape;40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200" y="948334"/>
            <a:ext cx="3887900" cy="385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950" y="1128294"/>
            <a:ext cx="3119200" cy="326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2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Results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graphicFrame>
        <p:nvGraphicFramePr>
          <p:cNvPr id="411" name="Google Shape;411;p52"/>
          <p:cNvGraphicFramePr/>
          <p:nvPr/>
        </p:nvGraphicFramePr>
        <p:xfrm>
          <a:off x="808135" y="1649835"/>
          <a:ext cx="7548450" cy="2651640"/>
        </p:xfrm>
        <a:graphic>
          <a:graphicData uri="http://schemas.openxmlformats.org/drawingml/2006/table">
            <a:tbl>
              <a:tblPr>
                <a:noFill/>
                <a:tableStyleId>{786F1678-9BED-46F7-BA40-8F9FAA9079F4}</a:tableStyleId>
              </a:tblPr>
              <a:tblGrid>
                <a:gridCol w="107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3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Disease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F1-score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 Acc (%)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Acc (%)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Cataract vs Normal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Cataract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0.989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0.982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0.982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97.62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Diabetic Retinopathy vs Normal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Diabetic Retinopathy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99.37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Glaucoma vs Normal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Glaucoma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0.898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0.906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90.25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90.25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2" name="Google Shape;412;p52"/>
          <p:cNvSpPr txBox="1"/>
          <p:nvPr/>
        </p:nvSpPr>
        <p:spPr>
          <a:xfrm>
            <a:off x="790807" y="1065250"/>
            <a:ext cx="3142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Classification Results</a:t>
            </a:r>
            <a:endParaRPr b="1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3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Results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18" name="Google Shape;418;p53"/>
          <p:cNvSpPr txBox="1"/>
          <p:nvPr/>
        </p:nvSpPr>
        <p:spPr>
          <a:xfrm>
            <a:off x="2400500" y="4091443"/>
            <a:ext cx="14124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Plot</a:t>
            </a:r>
            <a:endParaRPr b="1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53"/>
          <p:cNvSpPr txBox="1"/>
          <p:nvPr/>
        </p:nvSpPr>
        <p:spPr>
          <a:xfrm>
            <a:off x="6428391" y="4161203"/>
            <a:ext cx="19296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Confusion Matrix</a:t>
            </a:r>
            <a:endParaRPr b="1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0" name="Google Shape;42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075" y="1708801"/>
            <a:ext cx="4820975" cy="22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4213" y="1653375"/>
            <a:ext cx="2746201" cy="25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53"/>
          <p:cNvSpPr txBox="1"/>
          <p:nvPr/>
        </p:nvSpPr>
        <p:spPr>
          <a:xfrm>
            <a:off x="720000" y="1234875"/>
            <a:ext cx="38100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Classification - Cataract vs Normal</a:t>
            </a:r>
            <a:endParaRPr sz="1500" b="1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4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Results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428" name="Google Shape;42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263" y="1618787"/>
            <a:ext cx="5215650" cy="24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5807" y="1716763"/>
            <a:ext cx="2435288" cy="2231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4"/>
          <p:cNvSpPr txBox="1"/>
          <p:nvPr/>
        </p:nvSpPr>
        <p:spPr>
          <a:xfrm>
            <a:off x="798675" y="1255870"/>
            <a:ext cx="48336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Classification - Diabetic Retinopathy vs Normal</a:t>
            </a:r>
            <a:endParaRPr sz="1500" b="1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54"/>
          <p:cNvSpPr txBox="1"/>
          <p:nvPr/>
        </p:nvSpPr>
        <p:spPr>
          <a:xfrm>
            <a:off x="2400500" y="4022170"/>
            <a:ext cx="14124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Plot</a:t>
            </a:r>
            <a:endParaRPr b="1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54"/>
          <p:cNvSpPr txBox="1"/>
          <p:nvPr/>
        </p:nvSpPr>
        <p:spPr>
          <a:xfrm>
            <a:off x="6428391" y="4039976"/>
            <a:ext cx="19296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Confusion Matrix</a:t>
            </a:r>
            <a:endParaRPr b="1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5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Results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438" name="Google Shape;43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725" y="1621000"/>
            <a:ext cx="5311951" cy="24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1325" y="1637500"/>
            <a:ext cx="2577325" cy="236127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55"/>
          <p:cNvSpPr txBox="1"/>
          <p:nvPr/>
        </p:nvSpPr>
        <p:spPr>
          <a:xfrm>
            <a:off x="481736" y="1141068"/>
            <a:ext cx="43530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Classification - Glaucoma vs Normal</a:t>
            </a:r>
            <a:endParaRPr sz="1500" b="1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55"/>
          <p:cNvSpPr txBox="1"/>
          <p:nvPr/>
        </p:nvSpPr>
        <p:spPr>
          <a:xfrm>
            <a:off x="2417818" y="4022170"/>
            <a:ext cx="14124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Plot</a:t>
            </a:r>
            <a:endParaRPr b="1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55"/>
          <p:cNvSpPr txBox="1"/>
          <p:nvPr/>
        </p:nvSpPr>
        <p:spPr>
          <a:xfrm>
            <a:off x="6428398" y="4039975"/>
            <a:ext cx="1641714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Confusion Matrix</a:t>
            </a:r>
            <a:endParaRPr b="1" dirty="0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6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Results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graphicFrame>
        <p:nvGraphicFramePr>
          <p:cNvPr id="448" name="Google Shape;448;p56"/>
          <p:cNvGraphicFramePr/>
          <p:nvPr/>
        </p:nvGraphicFramePr>
        <p:xfrm>
          <a:off x="518325" y="1651338"/>
          <a:ext cx="8209550" cy="1432500"/>
        </p:xfrm>
        <a:graphic>
          <a:graphicData uri="http://schemas.openxmlformats.org/drawingml/2006/table">
            <a:tbl>
              <a:tblPr>
                <a:noFill/>
                <a:tableStyleId>{786F1678-9BED-46F7-BA40-8F9FAA9079F4}</a:tableStyleId>
              </a:tblPr>
              <a:tblGrid>
                <a:gridCol w="195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0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9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F1-score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 Acc (%)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Acc (%)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Cataract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Diabetic Retinopathy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Glaucoma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93.00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91.00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9" name="Google Shape;449;p56"/>
          <p:cNvSpPr txBox="1"/>
          <p:nvPr/>
        </p:nvSpPr>
        <p:spPr>
          <a:xfrm>
            <a:off x="518325" y="3418875"/>
            <a:ext cx="82095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r>
              <a:rPr lang="en" sz="1300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comparatively lower glaucoma classification performance may be due to feature overlap between glaucoma and normal retinal images, which makes them harder to distinguish.</a:t>
            </a:r>
            <a:endParaRPr sz="1300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p56"/>
          <p:cNvSpPr txBox="1"/>
          <p:nvPr/>
        </p:nvSpPr>
        <p:spPr>
          <a:xfrm>
            <a:off x="445056" y="1093925"/>
            <a:ext cx="42204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Multi-class Classification Results</a:t>
            </a:r>
            <a:endParaRPr b="1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7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Results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456" name="Google Shape;45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130" y="1561825"/>
            <a:ext cx="5487615" cy="254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1650" y="1611763"/>
            <a:ext cx="2601875" cy="244119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57"/>
          <p:cNvSpPr txBox="1"/>
          <p:nvPr/>
        </p:nvSpPr>
        <p:spPr>
          <a:xfrm>
            <a:off x="2551851" y="4151576"/>
            <a:ext cx="19296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Plot</a:t>
            </a:r>
            <a:endParaRPr b="1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57"/>
          <p:cNvSpPr txBox="1"/>
          <p:nvPr/>
        </p:nvSpPr>
        <p:spPr>
          <a:xfrm>
            <a:off x="6717603" y="4151580"/>
            <a:ext cx="19296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Confusion Matrix</a:t>
            </a:r>
            <a:endParaRPr b="1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57"/>
          <p:cNvSpPr txBox="1"/>
          <p:nvPr/>
        </p:nvSpPr>
        <p:spPr>
          <a:xfrm>
            <a:off x="518325" y="1017725"/>
            <a:ext cx="42204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Multi-class Classification</a:t>
            </a:r>
            <a:endParaRPr b="1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8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Discussion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66" name="Google Shape;466;p58"/>
          <p:cNvSpPr txBox="1"/>
          <p:nvPr/>
        </p:nvSpPr>
        <p:spPr>
          <a:xfrm>
            <a:off x="1426700" y="1064848"/>
            <a:ext cx="6125700" cy="3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proposed </a:t>
            </a: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Autoencoder–ResNet50 framework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improves retinal disease classification by reducing noise and extracting robust deep features.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autoencoder-based denoising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enhances image quality, allowing the ResNet50 network to learn more discriminative features.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model demonstrates </a:t>
            </a: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strong performance in both binary and multi-class classification tasks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confusion matrices indicate that most retinal images are </a:t>
            </a: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correctly classified across different disease categories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results highlight the effectiveness of </a:t>
            </a: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combining image denoising with deep feature extraction for medical image analysis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9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Future Scope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72" name="Google Shape;472;p59"/>
          <p:cNvSpPr txBox="1"/>
          <p:nvPr/>
        </p:nvSpPr>
        <p:spPr>
          <a:xfrm>
            <a:off x="365375" y="1047750"/>
            <a:ext cx="5407500" cy="3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Extend the model to detect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additional eye diseases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beyond current classes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Use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larger and more diverse datasets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to improve generalization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Implement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real-time deployment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in clinical and mobile applications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Fine-tune pretrained models for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further accuracy improvement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Integrate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attention mechanisms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for better feature learning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Develop a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user-friendly interface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for practical usage by healthcare professionals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Apply the system in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remote and rural healthcare screening programs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3" name="Google Shape;47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3775" y="1752851"/>
            <a:ext cx="2558577" cy="163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0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Conclusion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79" name="Google Shape;479;p60"/>
          <p:cNvSpPr txBox="1"/>
          <p:nvPr/>
        </p:nvSpPr>
        <p:spPr>
          <a:xfrm>
            <a:off x="335600" y="1019075"/>
            <a:ext cx="5977800" cy="3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This study proposed an </a:t>
            </a: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Autoencoder–ResNet50 based deep learning framework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for automated retinal disease classification.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autoencoder module effectively reduces noise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in retinal images, improving image quality before feature extraction.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ResNet50 architecture successfully extracts deep features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enabling accurate disease classification.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Experimental results demonstrate </a:t>
            </a: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strong performance in both binary and multi-class classification tasks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proposed framework shows potential for </a:t>
            </a: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supporting automated medical image analysis and early retinal disease detection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0" name="Google Shape;48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4875" y="1708000"/>
            <a:ext cx="2005350" cy="20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1"/>
          <p:cNvSpPr txBox="1">
            <a:spLocks noGrp="1"/>
          </p:cNvSpPr>
          <p:nvPr>
            <p:ph type="title"/>
          </p:nvPr>
        </p:nvSpPr>
        <p:spPr>
          <a:xfrm>
            <a:off x="720000" y="4097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References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86" name="Google Shape;486;p61"/>
          <p:cNvSpPr txBox="1"/>
          <p:nvPr/>
        </p:nvSpPr>
        <p:spPr>
          <a:xfrm>
            <a:off x="442675" y="933975"/>
            <a:ext cx="8242800" cy="35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C5C5F"/>
              </a:buClr>
              <a:buSzPts val="1300"/>
              <a:buFont typeface="Times New Roman"/>
              <a:buAutoNum type="arabicPeriod"/>
            </a:pPr>
            <a:r>
              <a:rPr lang="en" sz="1300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Saqib, Sheikh Muhammad, et al. ”Cataract and glaucoma detection based on Transfer Learning using MobileNet.” Heliyon 10.17 (2024).</a:t>
            </a:r>
            <a:endParaRPr sz="1300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C5C5F"/>
              </a:buClr>
              <a:buSzPts val="1300"/>
              <a:buFont typeface="Times New Roman"/>
              <a:buAutoNum type="arabicPeriod"/>
            </a:pPr>
            <a:r>
              <a:rPr lang="en" sz="1300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Mahmood, Salwa Shakir, Sihem Chaabouni, and Ahmed Fakhfakh. ”Improving Automated Detection of Cataract Disease through Transfer Learning using ResNet50.” Engineering, Technology &amp; Applied Science Research 14.5 (2024): 17541-17547.</a:t>
            </a:r>
            <a:endParaRPr sz="1300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C5C5F"/>
              </a:buClr>
              <a:buSzPts val="1300"/>
              <a:buFont typeface="Times New Roman"/>
              <a:buAutoNum type="arabicPeriod"/>
            </a:pPr>
            <a:r>
              <a:rPr lang="en" sz="1300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Son, Ki Young, et al. ”Deep learning-based cataract detection and grading from slit-lamp and retro-illumination photographs: Model development and validation study.” Ophthalmology Science 2.2 (2022): 100147.</a:t>
            </a:r>
            <a:endParaRPr sz="1300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C5C5F"/>
              </a:buClr>
              <a:buSzPts val="1300"/>
              <a:buFont typeface="Times New Roman"/>
              <a:buAutoNum type="arabicPeriod"/>
            </a:pPr>
            <a:r>
              <a:rPr lang="en" sz="1300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Mounika, Satti, and V. RaviSankar. ”Multi-Class Classification of Diabetic Retinopathy Diseases From Fundus Images Using Criss-Cross Attention Based Deep Residual Squeeze and Excitation Assisted Vision Transformer Model.” International Journal of Imaging Systems and Technology 35.5 (2025): e70199.</a:t>
            </a:r>
            <a:endParaRPr sz="1300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C5C5F"/>
              </a:buClr>
              <a:buSzPts val="1300"/>
              <a:buFont typeface="Times New Roman"/>
              <a:buAutoNum type="arabicPeriod"/>
            </a:pPr>
            <a:r>
              <a:rPr lang="en" sz="1300">
                <a:solidFill>
                  <a:srgbClr val="5C5C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Health Organization. Strategies for the prevention of blindness in national programmes: a primary health care approach. World health organization, 1997. </a:t>
            </a:r>
            <a:endParaRPr sz="1300">
              <a:solidFill>
                <a:srgbClr val="5C5C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2"/>
          <p:cNvSpPr txBox="1">
            <a:spLocks noGrp="1"/>
          </p:cNvSpPr>
          <p:nvPr>
            <p:ph type="title"/>
          </p:nvPr>
        </p:nvSpPr>
        <p:spPr>
          <a:xfrm>
            <a:off x="702682" y="53962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ICMLAS - 2026 Acceptance Letter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492" name="Google Shape;492;p62"/>
          <p:cNvPicPr preferRelativeResize="0"/>
          <p:nvPr/>
        </p:nvPicPr>
        <p:blipFill rotWithShape="1">
          <a:blip r:embed="rId3">
            <a:alphaModFix/>
          </a:blip>
          <a:srcRect b="11387"/>
          <a:stretch/>
        </p:blipFill>
        <p:spPr>
          <a:xfrm>
            <a:off x="2823925" y="1213050"/>
            <a:ext cx="3496151" cy="3180050"/>
          </a:xfrm>
          <a:prstGeom prst="rect">
            <a:avLst/>
          </a:prstGeom>
          <a:noFill/>
          <a:ln w="19050" cap="flat" cmpd="sng">
            <a:solidFill>
              <a:srgbClr val="809FA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3"/>
          <p:cNvSpPr txBox="1">
            <a:spLocks noGrp="1"/>
          </p:cNvSpPr>
          <p:nvPr>
            <p:ph type="title"/>
          </p:nvPr>
        </p:nvSpPr>
        <p:spPr>
          <a:xfrm>
            <a:off x="702682" y="53962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ICMLAS - 2026 Conference Presentation Certificates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498" name="Google Shape;49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381" y="1466143"/>
            <a:ext cx="4084077" cy="305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4340" y="1474844"/>
            <a:ext cx="4084073" cy="3055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4"/>
          <p:cNvSpPr txBox="1">
            <a:spLocks noGrp="1"/>
          </p:cNvSpPr>
          <p:nvPr>
            <p:ph type="title"/>
          </p:nvPr>
        </p:nvSpPr>
        <p:spPr>
          <a:xfrm>
            <a:off x="702682" y="53962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>
                <a:latin typeface="Quicksand"/>
                <a:ea typeface="Quicksand"/>
                <a:cs typeface="Quicksand"/>
                <a:sym typeface="Quicksand"/>
              </a:rPr>
              <a:t>ICMLAS - 2026 Conference Presentation Certificates</a:t>
            </a:r>
            <a:endParaRPr b="1"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505" name="Google Shape;50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203" y="1446190"/>
            <a:ext cx="4084077" cy="3060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7357" y="1448300"/>
            <a:ext cx="4084073" cy="3055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5"/>
          <p:cNvSpPr txBox="1"/>
          <p:nvPr/>
        </p:nvSpPr>
        <p:spPr>
          <a:xfrm>
            <a:off x="3171884" y="2047625"/>
            <a:ext cx="2992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b="1" u="sng">
                <a:solidFill>
                  <a:srgbClr val="134F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1900" b="1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 and Elegant Portfolio by Slidesgo">
  <a:themeElements>
    <a:clrScheme name="Simple Light">
      <a:dk1>
        <a:srgbClr val="134F5C"/>
      </a:dk1>
      <a:lt1>
        <a:srgbClr val="A2C4C9"/>
      </a:lt1>
      <a:dk2>
        <a:srgbClr val="FFFFFF"/>
      </a:dk2>
      <a:lt2>
        <a:srgbClr val="0C343D"/>
      </a:lt2>
      <a:accent1>
        <a:srgbClr val="265D5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34F5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1628</Words>
  <Application>Microsoft Office PowerPoint</Application>
  <PresentationFormat>On-screen Show (16:9)</PresentationFormat>
  <Paragraphs>282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Elsie</vt:lpstr>
      <vt:lpstr>Mulish</vt:lpstr>
      <vt:lpstr>Quicksand</vt:lpstr>
      <vt:lpstr>Arial</vt:lpstr>
      <vt:lpstr>Calibri</vt:lpstr>
      <vt:lpstr>Proxima Nova</vt:lpstr>
      <vt:lpstr>DM Sans</vt:lpstr>
      <vt:lpstr>Albert Sans</vt:lpstr>
      <vt:lpstr>Times New Roman</vt:lpstr>
      <vt:lpstr>Clean and Elegant Portfolio by Slidesgo</vt:lpstr>
      <vt:lpstr>PowerPoint Presentation</vt:lpstr>
      <vt:lpstr>Contents</vt:lpstr>
      <vt:lpstr>Abstract</vt:lpstr>
      <vt:lpstr>Introduction</vt:lpstr>
      <vt:lpstr>Problem Statement</vt:lpstr>
      <vt:lpstr>Solution to the Problem</vt:lpstr>
      <vt:lpstr>Research Objectives</vt:lpstr>
      <vt:lpstr>Literature Review</vt:lpstr>
      <vt:lpstr>System Analysis - Existing System</vt:lpstr>
      <vt:lpstr>Proposed System</vt:lpstr>
      <vt:lpstr>Requirement Analysis</vt:lpstr>
      <vt:lpstr>Design of Proposed System</vt:lpstr>
      <vt:lpstr>Methodology</vt:lpstr>
      <vt:lpstr>Dataset Description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Testing</vt:lpstr>
      <vt:lpstr>Results</vt:lpstr>
      <vt:lpstr>Results</vt:lpstr>
      <vt:lpstr>Results</vt:lpstr>
      <vt:lpstr>Results</vt:lpstr>
      <vt:lpstr>Results</vt:lpstr>
      <vt:lpstr>Results</vt:lpstr>
      <vt:lpstr>Discussion</vt:lpstr>
      <vt:lpstr>Future Scope</vt:lpstr>
      <vt:lpstr>Conclusion</vt:lpstr>
      <vt:lpstr>References</vt:lpstr>
      <vt:lpstr>ICMLAS - 2026 Acceptance Letter</vt:lpstr>
      <vt:lpstr>ICMLAS - 2026 Conference Presentation Certificates</vt:lpstr>
      <vt:lpstr>ICMLAS - 2026 Conference Presentation Certificates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Charan Parvatham</cp:lastModifiedBy>
  <cp:revision>1</cp:revision>
  <dcterms:modified xsi:type="dcterms:W3CDTF">2026-04-29T17:20:58Z</dcterms:modified>
</cp:coreProperties>
</file>